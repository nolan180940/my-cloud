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225"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DF974-70F2-C6D3-7B62-DA8EB14A7129}"/>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BFB6947-C5F5-C397-361E-9FF872DBB4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CAFEC1F-8935-AC7A-4304-F45779541BE5}"/>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04DEC10B-CFE8-4B50-9E0D-319A2AA78B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512EE7B-FFDA-FDC0-E210-F09A4443B894}"/>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2851772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ABFD32-41E6-C934-82BD-60BDD7FD927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8074F8C-70CC-9C74-51DD-04DDD6C2559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00402C6-367A-8D2B-D7BB-33DF62F7ADDD}"/>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AEDFB9AC-47FB-15BB-938B-764575B23D0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5C84558-849F-E85B-1751-9AAEDCE54B23}"/>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3267816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BA2AF1-BD12-B5AE-A6B1-1345F942B20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2C7C839-43FB-0173-229B-A23518988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92D6CA3-86C2-EFB1-5E27-9585B31BC71D}"/>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1CA8F9EF-FEB6-F6D9-456A-EB2B0888DC4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5656711-3AB2-3190-3FA2-B3F6170E9F9B}"/>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2642275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9739A3-2899-FBBB-B612-3F4BB4C82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F739B48-6E56-3111-B055-E50EC6FF883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73EEF8D6-817F-2289-B46A-0E97FBB598A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618E427-B47C-720D-40BD-45134D3AA603}"/>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6" name="页脚占位符 5">
            <a:extLst>
              <a:ext uri="{FF2B5EF4-FFF2-40B4-BE49-F238E27FC236}">
                <a16:creationId xmlns:a16="http://schemas.microsoft.com/office/drawing/2014/main" id="{80A0B6D9-33D6-CD72-7D62-C3E790A0FE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C8BB4F0-039B-D169-196A-52336A2DBD9C}"/>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788100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88E4D1-8280-D2F9-B02F-BDA0C8DEA74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144A090-959E-9411-B8DD-431BDB4ED1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218731D-1B12-AEC9-8F69-21BE843C260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A50E04B-1F27-D96D-E40E-52BBAA07AA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31C13A9E-2DB7-52A8-9787-D7DDF152F78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02866E2-3792-8E48-46AB-9D00C104F2E0}"/>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8" name="页脚占位符 7">
            <a:extLst>
              <a:ext uri="{FF2B5EF4-FFF2-40B4-BE49-F238E27FC236}">
                <a16:creationId xmlns:a16="http://schemas.microsoft.com/office/drawing/2014/main" id="{D18D7497-46A4-CB86-F184-9094396F5AF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2368D23-C313-6345-5247-080DC8C4A903}"/>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772957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56D6F2-2E3A-590A-833B-8D17E16D104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9B1BA0D-037B-4581-0185-F00FE86368D3}"/>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4" name="页脚占位符 3">
            <a:extLst>
              <a:ext uri="{FF2B5EF4-FFF2-40B4-BE49-F238E27FC236}">
                <a16:creationId xmlns:a16="http://schemas.microsoft.com/office/drawing/2014/main" id="{A298C3C3-5FCC-E1E0-BDD3-7AED0719605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262EB0-A991-8D91-113F-7BD8497DCD60}"/>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3418189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19990C1-9EAA-E439-0531-927CCBB4D710}"/>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3" name="页脚占位符 2">
            <a:extLst>
              <a:ext uri="{FF2B5EF4-FFF2-40B4-BE49-F238E27FC236}">
                <a16:creationId xmlns:a16="http://schemas.microsoft.com/office/drawing/2014/main" id="{ABBB3997-70F3-EE43-A932-0449AE57186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5DAA13E-B5E7-4FFF-0F33-8466B4998117}"/>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26122861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1B4ECB-D29F-B249-4AFC-7CDB42CBE7D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CCCE373-371C-E9E4-0C63-E0A8DF4C9F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8240E4F-E308-1A3E-4EB5-92F6F0BDCD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DDEE981-69F0-C5EE-1F4E-109D649CE74D}"/>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6" name="页脚占位符 5">
            <a:extLst>
              <a:ext uri="{FF2B5EF4-FFF2-40B4-BE49-F238E27FC236}">
                <a16:creationId xmlns:a16="http://schemas.microsoft.com/office/drawing/2014/main" id="{D912EF5A-2245-45C7-1247-A3BC8F61E10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5B8D557-49B6-645F-7BED-9F5D86B2AF36}"/>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2176334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2FAA0C-9B12-6250-077F-0A03281F0AD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6AD5896-9522-1565-9C85-50C0B450B4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D1BC940-ECCF-8913-A914-33E9200D15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23F0773-4834-2EE5-8D9F-2BB9C5F37566}"/>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6" name="页脚占位符 5">
            <a:extLst>
              <a:ext uri="{FF2B5EF4-FFF2-40B4-BE49-F238E27FC236}">
                <a16:creationId xmlns:a16="http://schemas.microsoft.com/office/drawing/2014/main" id="{ECD31517-A70A-BCBB-6D78-36138A87831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53C5CD-F04B-3C77-67F4-EDEEB2C8D148}"/>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3847137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994BF68-C736-34A9-F512-4EE8EBADE62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A7F295F-2039-2525-CE74-32815FF8A5B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472FFF-72C4-7B85-BCCE-BD06FEF63E95}"/>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0EE7DDF5-D809-C072-5B4E-1EE789632B5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E6A0FA-13AA-D37B-31E1-5C34308852CD}"/>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3656241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30DB647-8CF6-D5C0-0ECB-25A0BA1BCFB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9967CF2-7A6E-75A1-6CA3-76F85B4EDAB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D7D7A33-22E9-F8B8-50BF-ECFD8618E1C4}"/>
              </a:ext>
            </a:extLst>
          </p:cNvPr>
          <p:cNvSpPr>
            <a:spLocks noGrp="1"/>
          </p:cNvSpPr>
          <p:nvPr>
            <p:ph type="dt" sz="half" idx="10"/>
          </p:nvPr>
        </p:nvSpPr>
        <p:spPr/>
        <p:txBody>
          <a:bodyPr/>
          <a:lstStyle/>
          <a:p>
            <a:fld id="{290E2424-E50B-4293-BE1A-4F10EFEA0FF0}"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F1ECC60B-4A73-8608-CE66-C399E69032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FCC8F63-167C-2A8A-8BF0-E24AD168A9CB}"/>
              </a:ext>
            </a:extLst>
          </p:cNvPr>
          <p:cNvSpPr>
            <a:spLocks noGrp="1"/>
          </p:cNvSpPr>
          <p:nvPr>
            <p:ph type="sldNum" sz="quarter" idx="12"/>
          </p:nvPr>
        </p:nvSpPr>
        <p:spPr/>
        <p:txBody>
          <a:body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1618165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550E43B-2945-9B0A-42A3-03959D3C75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018646F-F1C8-A66C-27BA-FFA32D9F35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824B0C9-214E-35CF-7A41-DDC83C470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0E2424-E50B-4293-BE1A-4F10EFEA0FF0}" type="datetimeFigureOut">
              <a:rPr lang="zh-CN" altLang="en-US" smtClean="0"/>
              <a:t>2025/9/30</a:t>
            </a:fld>
            <a:endParaRPr lang="zh-CN" altLang="en-US"/>
          </a:p>
        </p:txBody>
      </p:sp>
      <p:sp>
        <p:nvSpPr>
          <p:cNvPr id="5" name="页脚占位符 4">
            <a:extLst>
              <a:ext uri="{FF2B5EF4-FFF2-40B4-BE49-F238E27FC236}">
                <a16:creationId xmlns:a16="http://schemas.microsoft.com/office/drawing/2014/main" id="{B73ADE46-B690-1A8E-B13E-6185372C62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3FD2E27E-961C-44E1-E7CE-601298A44E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FE7F2F-680D-4EDC-9B68-B1C9015A363C}" type="slidenum">
              <a:rPr lang="zh-CN" altLang="en-US" smtClean="0"/>
              <a:t>‹#›</a:t>
            </a:fld>
            <a:endParaRPr lang="zh-CN" altLang="en-US"/>
          </a:p>
        </p:txBody>
      </p:sp>
    </p:spTree>
    <p:extLst>
      <p:ext uri="{BB962C8B-B14F-4D97-AF65-F5344CB8AC3E}">
        <p14:creationId xmlns:p14="http://schemas.microsoft.com/office/powerpoint/2010/main" val="1591374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8FE0CF-09F8-2D9A-C54F-F979D4CC138A}"/>
              </a:ext>
            </a:extLst>
          </p:cNvPr>
          <p:cNvSpPr>
            <a:spLocks noGrp="1"/>
          </p:cNvSpPr>
          <p:nvPr>
            <p:ph type="ctrTitle"/>
          </p:nvPr>
        </p:nvSpPr>
        <p:spPr/>
        <p:txBody>
          <a:bodyPr/>
          <a:lstStyle/>
          <a:p>
            <a:r>
              <a:rPr lang="en-US" altLang="zh-CN" dirty="0"/>
              <a:t>2025 </a:t>
            </a:r>
            <a:r>
              <a:rPr lang="zh-CN" altLang="en-US" dirty="0"/>
              <a:t>黄浦二卷</a:t>
            </a:r>
          </a:p>
        </p:txBody>
      </p:sp>
      <p:sp>
        <p:nvSpPr>
          <p:cNvPr id="3" name="副标题 2">
            <a:extLst>
              <a:ext uri="{FF2B5EF4-FFF2-40B4-BE49-F238E27FC236}">
                <a16:creationId xmlns:a16="http://schemas.microsoft.com/office/drawing/2014/main" id="{75B836A3-8251-D2CD-F42D-C55C0C228497}"/>
              </a:ext>
            </a:extLst>
          </p:cNvPr>
          <p:cNvSpPr>
            <a:spLocks noGrp="1"/>
          </p:cNvSpPr>
          <p:nvPr>
            <p:ph type="subTitle" idx="1"/>
          </p:nvPr>
        </p:nvSpPr>
        <p:spPr/>
        <p:txBody>
          <a:bodyPr/>
          <a:lstStyle/>
          <a:p>
            <a:r>
              <a:rPr lang="en-US" altLang="zh-CN" dirty="0"/>
              <a:t>20250915</a:t>
            </a:r>
            <a:endParaRPr lang="zh-CN" altLang="en-US" dirty="0"/>
          </a:p>
        </p:txBody>
      </p:sp>
    </p:spTree>
    <p:extLst>
      <p:ext uri="{BB962C8B-B14F-4D97-AF65-F5344CB8AC3E}">
        <p14:creationId xmlns:p14="http://schemas.microsoft.com/office/powerpoint/2010/main" val="37827858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C7CE0D-1B38-F17D-E1EE-D07F34917AFE}"/>
              </a:ext>
            </a:extLst>
          </p:cNvPr>
          <p:cNvSpPr>
            <a:spLocks noGrp="1"/>
          </p:cNvSpPr>
          <p:nvPr>
            <p:ph type="title"/>
          </p:nvPr>
        </p:nvSpPr>
        <p:spPr/>
        <p:txBody>
          <a:bodyPr/>
          <a:lstStyle/>
          <a:p>
            <a:r>
              <a:rPr lang="en-US" altLang="zh-CN" dirty="0"/>
              <a:t>Translation </a:t>
            </a:r>
            <a:endParaRPr lang="zh-CN" altLang="en-US" dirty="0"/>
          </a:p>
        </p:txBody>
      </p:sp>
      <p:sp>
        <p:nvSpPr>
          <p:cNvPr id="3" name="内容占位符 2">
            <a:extLst>
              <a:ext uri="{FF2B5EF4-FFF2-40B4-BE49-F238E27FC236}">
                <a16:creationId xmlns:a16="http://schemas.microsoft.com/office/drawing/2014/main" id="{FB07C886-2379-E408-856E-FE3ED4228495}"/>
              </a:ext>
            </a:extLst>
          </p:cNvPr>
          <p:cNvSpPr>
            <a:spLocks noGrp="1"/>
          </p:cNvSpPr>
          <p:nvPr>
            <p:ph idx="1"/>
          </p:nvPr>
        </p:nvSpPr>
        <p:spPr/>
        <p:txBody>
          <a:bodyPr/>
          <a:lstStyle/>
          <a:p>
            <a:pPr marL="0" indent="0">
              <a:buNone/>
            </a:pPr>
            <a:r>
              <a:rPr lang="en-US" altLang="zh-CN" dirty="0">
                <a:latin typeface="Times New Roman" panose="02020603050405020304" pitchFamily="18" charset="0"/>
                <a:cs typeface="Times New Roman" panose="02020603050405020304" pitchFamily="18" charset="0"/>
              </a:rPr>
              <a:t>52.</a:t>
            </a:r>
            <a:r>
              <a:rPr lang="zh-CN" altLang="en-US" dirty="0">
                <a:latin typeface="Times New Roman" panose="02020603050405020304" pitchFamily="18" charset="0"/>
                <a:cs typeface="Times New Roman" panose="02020603050405020304" pitchFamily="18" charset="0"/>
              </a:rPr>
              <a:t>这款饮料由水果和蔬菜汁混合而成，味道很好（</a:t>
            </a:r>
            <a:r>
              <a:rPr lang="en-US" altLang="zh-CN" dirty="0">
                <a:latin typeface="Times New Roman" panose="02020603050405020304" pitchFamily="18" charset="0"/>
                <a:cs typeface="Times New Roman" panose="02020603050405020304" pitchFamily="18" charset="0"/>
              </a:rPr>
              <a:t>combination</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u="sng" dirty="0">
                <a:latin typeface="Times New Roman" panose="02020603050405020304" pitchFamily="18" charset="0"/>
                <a:cs typeface="Times New Roman" panose="02020603050405020304" pitchFamily="18" charset="0"/>
              </a:rPr>
              <a:t>This drink, which is a </a:t>
            </a:r>
            <a:r>
              <a:rPr lang="en-US" altLang="zh-CN" u="sng" dirty="0">
                <a:solidFill>
                  <a:srgbClr val="FF0000"/>
                </a:solidFill>
                <a:latin typeface="Times New Roman" panose="02020603050405020304" pitchFamily="18" charset="0"/>
                <a:cs typeface="Times New Roman" panose="02020603050405020304" pitchFamily="18" charset="0"/>
              </a:rPr>
              <a:t>combination</a:t>
            </a:r>
            <a:r>
              <a:rPr lang="en-US" altLang="zh-CN" u="sng" dirty="0">
                <a:latin typeface="Times New Roman" panose="02020603050405020304" pitchFamily="18" charset="0"/>
                <a:cs typeface="Times New Roman" panose="02020603050405020304" pitchFamily="18" charset="0"/>
              </a:rPr>
              <a:t> of fruit and vegetable juices, tastes great. </a:t>
            </a:r>
          </a:p>
          <a:p>
            <a:pPr marL="0" indent="0">
              <a:buNone/>
            </a:pPr>
            <a:endParaRPr lang="zh-CN" altLang="en-US" dirty="0">
              <a:latin typeface="Times New Roman" panose="02020603050405020304" pitchFamily="18" charset="0"/>
              <a:cs typeface="Times New Roman" panose="02020603050405020304" pitchFamily="18" charset="0"/>
            </a:endParaRPr>
          </a:p>
          <a:p>
            <a:pPr marL="0" indent="0">
              <a:buNone/>
            </a:pPr>
            <a:r>
              <a:rPr lang="en-US" altLang="zh-CN" dirty="0">
                <a:latin typeface="Times New Roman" panose="02020603050405020304" pitchFamily="18" charset="0"/>
                <a:cs typeface="Times New Roman" panose="02020603050405020304" pitchFamily="18" charset="0"/>
              </a:rPr>
              <a:t>53.</a:t>
            </a:r>
            <a:r>
              <a:rPr lang="zh-CN" altLang="en-US" dirty="0">
                <a:latin typeface="Times New Roman" panose="02020603050405020304" pitchFamily="18" charset="0"/>
                <a:cs typeface="Times New Roman" panose="02020603050405020304" pitchFamily="18" charset="0"/>
              </a:rPr>
              <a:t>下了一周雨后，天气变得阳光明媚，这真令人感到愉悦。（</a:t>
            </a:r>
            <a:r>
              <a:rPr lang="en-US" altLang="zh-CN" dirty="0">
                <a:latin typeface="Times New Roman" panose="02020603050405020304" pitchFamily="18" charset="0"/>
                <a:cs typeface="Times New Roman" panose="02020603050405020304" pitchFamily="18" charset="0"/>
              </a:rPr>
              <a:t>which</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u="sng" dirty="0">
                <a:latin typeface="Times New Roman" panose="02020603050405020304" pitchFamily="18" charset="0"/>
                <a:cs typeface="Times New Roman" panose="02020603050405020304" pitchFamily="18" charset="0"/>
              </a:rPr>
              <a:t>After a week of rain, the weather turned sunny and bright, </a:t>
            </a:r>
            <a:r>
              <a:rPr lang="en-US" altLang="zh-CN" u="sng" dirty="0">
                <a:solidFill>
                  <a:srgbClr val="FF0000"/>
                </a:solidFill>
                <a:latin typeface="Times New Roman" panose="02020603050405020304" pitchFamily="18" charset="0"/>
                <a:cs typeface="Times New Roman" panose="02020603050405020304" pitchFamily="18" charset="0"/>
              </a:rPr>
              <a:t>which</a:t>
            </a:r>
            <a:r>
              <a:rPr lang="en-US" altLang="zh-CN" u="sng" dirty="0">
                <a:latin typeface="Times New Roman" panose="02020603050405020304" pitchFamily="18" charset="0"/>
                <a:cs typeface="Times New Roman" panose="02020603050405020304" pitchFamily="18" charset="0"/>
              </a:rPr>
              <a:t> was truly delightful.</a:t>
            </a:r>
            <a:endParaRPr lang="zh-CN" altLang="en-US" u="sng" dirty="0">
              <a:latin typeface="Times New Roman" panose="02020603050405020304" pitchFamily="18" charset="0"/>
              <a:cs typeface="Times New Roman" panose="02020603050405020304" pitchFamily="18" charset="0"/>
            </a:endParaRPr>
          </a:p>
          <a:p>
            <a:pPr marL="0" indent="0">
              <a:buNone/>
            </a:pP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872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B7E61C-DEE7-4DE4-0AE9-26130AA0688F}"/>
              </a:ext>
            </a:extLst>
          </p:cNvPr>
          <p:cNvSpPr>
            <a:spLocks noGrp="1"/>
          </p:cNvSpPr>
          <p:nvPr>
            <p:ph type="title"/>
          </p:nvPr>
        </p:nvSpPr>
        <p:spPr/>
        <p:txBody>
          <a:bodyPr/>
          <a:lstStyle/>
          <a:p>
            <a:r>
              <a:rPr lang="en-US" altLang="zh-CN" dirty="0"/>
              <a:t>Translation</a:t>
            </a:r>
            <a:endParaRPr lang="zh-CN" altLang="en-US" dirty="0"/>
          </a:p>
        </p:txBody>
      </p:sp>
      <p:sp>
        <p:nvSpPr>
          <p:cNvPr id="3" name="内容占位符 2">
            <a:extLst>
              <a:ext uri="{FF2B5EF4-FFF2-40B4-BE49-F238E27FC236}">
                <a16:creationId xmlns:a16="http://schemas.microsoft.com/office/drawing/2014/main" id="{5832CB76-39EB-DE11-4BAA-C3288ADB5804}"/>
              </a:ext>
            </a:extLst>
          </p:cNvPr>
          <p:cNvSpPr>
            <a:spLocks noGrp="1"/>
          </p:cNvSpPr>
          <p:nvPr>
            <p:ph idx="1"/>
          </p:nvPr>
        </p:nvSpPr>
        <p:spPr>
          <a:xfrm>
            <a:off x="838200" y="1825624"/>
            <a:ext cx="10515600" cy="5173273"/>
          </a:xfrm>
        </p:spPr>
        <p:txBody>
          <a:bodyPr>
            <a:normAutofit/>
          </a:bodyPr>
          <a:lstStyle/>
          <a:p>
            <a:pPr marL="0" indent="0">
              <a:buNone/>
            </a:pPr>
            <a:r>
              <a:rPr lang="en-US" altLang="zh-CN" dirty="0">
                <a:latin typeface="Times New Roman" panose="02020603050405020304" pitchFamily="18" charset="0"/>
                <a:cs typeface="Times New Roman" panose="02020603050405020304" pitchFamily="18" charset="0"/>
              </a:rPr>
              <a:t>54.</a:t>
            </a:r>
            <a:r>
              <a:rPr lang="zh-CN" altLang="en-US" dirty="0">
                <a:latin typeface="Times New Roman" panose="02020603050405020304" pitchFamily="18" charset="0"/>
                <a:cs typeface="Times New Roman" panose="02020603050405020304" pitchFamily="18" charset="0"/>
              </a:rPr>
              <a:t>无论从哪个方面看，写作都是一个有百利无一害，且适用于每个普通人的技能。（</a:t>
            </a:r>
            <a:r>
              <a:rPr lang="en-US" altLang="zh-CN" dirty="0">
                <a:latin typeface="Times New Roman" panose="02020603050405020304" pitchFamily="18" charset="0"/>
                <a:cs typeface="Times New Roman" panose="02020603050405020304" pitchFamily="18" charset="0"/>
              </a:rPr>
              <a:t>apply</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0" indent="0">
              <a:buNone/>
            </a:pPr>
            <a:r>
              <a:rPr lang="en-US" altLang="zh-CN" u="sng" dirty="0">
                <a:latin typeface="Times New Roman" panose="02020603050405020304" pitchFamily="18" charset="0"/>
                <a:cs typeface="Times New Roman" panose="02020603050405020304" pitchFamily="18" charset="0"/>
              </a:rPr>
              <a:t>From any perspective, writing is a skill that offers nothing but benefits and </a:t>
            </a:r>
            <a:r>
              <a:rPr lang="en-US" altLang="zh-CN" u="sng" dirty="0">
                <a:solidFill>
                  <a:srgbClr val="FF0000"/>
                </a:solidFill>
                <a:latin typeface="Times New Roman" panose="02020603050405020304" pitchFamily="18" charset="0"/>
                <a:cs typeface="Times New Roman" panose="02020603050405020304" pitchFamily="18" charset="0"/>
              </a:rPr>
              <a:t>applies</a:t>
            </a:r>
            <a:r>
              <a:rPr lang="en-US" altLang="zh-CN" u="sng" dirty="0">
                <a:latin typeface="Times New Roman" panose="02020603050405020304" pitchFamily="18" charset="0"/>
                <a:cs typeface="Times New Roman" panose="02020603050405020304" pitchFamily="18" charset="0"/>
              </a:rPr>
              <a:t> to every ordinary person.</a:t>
            </a:r>
          </a:p>
          <a:p>
            <a:pPr marL="0" indent="0">
              <a:buNone/>
            </a:pPr>
            <a:endParaRPr lang="zh-CN" altLang="en-US" dirty="0">
              <a:latin typeface="Times New Roman" panose="02020603050405020304" pitchFamily="18" charset="0"/>
              <a:cs typeface="Times New Roman" panose="02020603050405020304" pitchFamily="18" charset="0"/>
            </a:endParaRPr>
          </a:p>
          <a:p>
            <a:pPr marL="0" indent="0">
              <a:buNone/>
            </a:pPr>
            <a:r>
              <a:rPr lang="en-US" altLang="zh-CN" dirty="0">
                <a:latin typeface="Times New Roman" panose="02020603050405020304" pitchFamily="18" charset="0"/>
                <a:cs typeface="Times New Roman" panose="02020603050405020304" pitchFamily="18" charset="0"/>
              </a:rPr>
              <a:t>55.</a:t>
            </a:r>
            <a:r>
              <a:rPr lang="zh-CN" altLang="en-US" dirty="0">
                <a:latin typeface="Times New Roman" panose="02020603050405020304" pitchFamily="18" charset="0"/>
                <a:cs typeface="Times New Roman" panose="02020603050405020304" pitchFamily="18" charset="0"/>
              </a:rPr>
              <a:t>包括新手小白和高级玩家在内的多位受访者表示，他们热衷于攀岩是因为这项运动需要他们富有创造性地解决问题。（</a:t>
            </a:r>
            <a:r>
              <a:rPr lang="en-US" altLang="zh-CN" dirty="0">
                <a:latin typeface="Times New Roman" panose="02020603050405020304" pitchFamily="18" charset="0"/>
                <a:cs typeface="Times New Roman" panose="02020603050405020304" pitchFamily="18" charset="0"/>
              </a:rPr>
              <a:t>range</a:t>
            </a:r>
            <a:r>
              <a:rPr lang="zh-CN" altLang="en-US" dirty="0">
                <a:latin typeface="Times New Roman" panose="02020603050405020304" pitchFamily="18" charset="0"/>
                <a:cs typeface="Times New Roman" panose="02020603050405020304" pitchFamily="18" charset="0"/>
              </a:rPr>
              <a:t>）</a:t>
            </a:r>
          </a:p>
          <a:p>
            <a:pPr marL="0" indent="0">
              <a:buNone/>
            </a:pPr>
            <a:r>
              <a:rPr lang="en-US" altLang="zh-CN" u="sng" dirty="0">
                <a:latin typeface="Times New Roman" panose="02020603050405020304" pitchFamily="18" charset="0"/>
                <a:cs typeface="Times New Roman" panose="02020603050405020304" pitchFamily="18" charset="0"/>
              </a:rPr>
              <a:t>A dozen interviewees, </a:t>
            </a:r>
            <a:r>
              <a:rPr lang="en-US" altLang="zh-CN" u="sng" dirty="0">
                <a:solidFill>
                  <a:srgbClr val="FF0000"/>
                </a:solidFill>
                <a:latin typeface="Times New Roman" panose="02020603050405020304" pitchFamily="18" charset="0"/>
                <a:cs typeface="Times New Roman" panose="02020603050405020304" pitchFamily="18" charset="0"/>
              </a:rPr>
              <a:t>ranging</a:t>
            </a:r>
            <a:r>
              <a:rPr lang="en-US" altLang="zh-CN" u="sng" dirty="0">
                <a:latin typeface="Times New Roman" panose="02020603050405020304" pitchFamily="18" charset="0"/>
                <a:cs typeface="Times New Roman" panose="02020603050405020304" pitchFamily="18" charset="0"/>
              </a:rPr>
              <a:t> from beginner to professionals, said they were enthusiastic about rock climbing because it required them to solve problems creatively.</a:t>
            </a:r>
            <a:endParaRPr lang="zh-CN" altLang="en-US"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619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8DF7CA-46FD-532B-C265-1F3BDE4D691A}"/>
              </a:ext>
            </a:extLst>
          </p:cNvPr>
          <p:cNvSpPr>
            <a:spLocks noGrp="1"/>
          </p:cNvSpPr>
          <p:nvPr>
            <p:ph type="title"/>
          </p:nvPr>
        </p:nvSpPr>
        <p:spPr/>
        <p:txBody>
          <a:bodyPr/>
          <a:lstStyle/>
          <a:p>
            <a:r>
              <a:rPr lang="en-US" altLang="zh-CN" dirty="0"/>
              <a:t>Summary</a:t>
            </a:r>
            <a:endParaRPr lang="zh-CN" altLang="en-US" dirty="0"/>
          </a:p>
        </p:txBody>
      </p:sp>
      <p:sp>
        <p:nvSpPr>
          <p:cNvPr id="3" name="内容占位符 2">
            <a:extLst>
              <a:ext uri="{FF2B5EF4-FFF2-40B4-BE49-F238E27FC236}">
                <a16:creationId xmlns:a16="http://schemas.microsoft.com/office/drawing/2014/main" id="{9F3311BE-771F-9F15-4BD6-8637174E17C8}"/>
              </a:ext>
            </a:extLst>
          </p:cNvPr>
          <p:cNvSpPr>
            <a:spLocks noGrp="1"/>
          </p:cNvSpPr>
          <p:nvPr>
            <p:ph idx="1"/>
          </p:nvPr>
        </p:nvSpPr>
        <p:spPr>
          <a:xfrm>
            <a:off x="177471" y="1404053"/>
            <a:ext cx="12141679" cy="5527696"/>
          </a:xfrm>
        </p:spPr>
        <p:txBody>
          <a:bodyPr>
            <a:normAutofit fontScale="92500" lnSpcReduction="10000"/>
          </a:bodyPr>
          <a:lstStyle/>
          <a:p>
            <a:pPr marL="0" indent="0" algn="ctr">
              <a:buNone/>
            </a:pPr>
            <a:r>
              <a:rPr lang="en-US" altLang="zh-CN" sz="2400" b="1" dirty="0">
                <a:latin typeface="Times New Roman" panose="02020603050405020304" pitchFamily="18" charset="0"/>
                <a:cs typeface="Times New Roman" panose="02020603050405020304" pitchFamily="18" charset="0"/>
              </a:rPr>
              <a:t>How to Make a Good Video Resume(</a:t>
            </a:r>
            <a:r>
              <a:rPr lang="zh-CN" altLang="en-US" sz="2400" b="1" dirty="0">
                <a:latin typeface="Times New Roman" panose="02020603050405020304" pitchFamily="18" charset="0"/>
                <a:cs typeface="Times New Roman" panose="02020603050405020304" pitchFamily="18" charset="0"/>
              </a:rPr>
              <a:t>简历</a:t>
            </a:r>
            <a:r>
              <a:rPr lang="en-US" altLang="zh-CN" sz="2400" b="1" dirty="0">
                <a:latin typeface="Times New Roman" panose="02020603050405020304" pitchFamily="18" charset="0"/>
                <a:cs typeface="Times New Roman" panose="02020603050405020304" pitchFamily="18" charset="0"/>
              </a:rPr>
              <a:t>)</a:t>
            </a:r>
            <a:r>
              <a:rPr lang="zh-CN" altLang="en-US" sz="2400" b="1" dirty="0">
                <a:latin typeface="Times New Roman" panose="02020603050405020304" pitchFamily="18" charset="0"/>
                <a:cs typeface="Times New Roman" panose="02020603050405020304" pitchFamily="18" charset="0"/>
              </a:rPr>
              <a:t>？</a:t>
            </a:r>
          </a:p>
          <a:p>
            <a:pPr marL="0" indent="0">
              <a:buNone/>
            </a:pPr>
            <a:r>
              <a:rPr lang="en-US" altLang="zh-CN" sz="2400" dirty="0">
                <a:latin typeface="Times New Roman" panose="02020603050405020304" pitchFamily="18" charset="0"/>
                <a:cs typeface="Times New Roman" panose="02020603050405020304" pitchFamily="18" charset="0"/>
              </a:rPr>
              <a:t>Video resumés have been around for a long time. </a:t>
            </a:r>
            <a:r>
              <a:rPr lang="en-US" altLang="zh-CN" sz="2400" dirty="0">
                <a:solidFill>
                  <a:srgbClr val="FF0000"/>
                </a:solidFill>
                <a:latin typeface="Times New Roman" panose="02020603050405020304" pitchFamily="18" charset="0"/>
                <a:cs typeface="Times New Roman" panose="02020603050405020304" pitchFamily="18" charset="0"/>
              </a:rPr>
              <a:t>With a well-made video resumé, you can present yourself creatively and allow a hiring manager to assess your personality, thus giving you an opportunity for interview.</a:t>
            </a:r>
            <a:r>
              <a:rPr lang="en-US" altLang="zh-CN" sz="2400" dirty="0">
                <a:latin typeface="Times New Roman" panose="02020603050405020304" pitchFamily="18" charset="0"/>
                <a:cs typeface="Times New Roman" panose="02020603050405020304" pitchFamily="18" charset="0"/>
              </a:rPr>
              <a:t> But how to make a good video resumé?</a:t>
            </a:r>
          </a:p>
          <a:p>
            <a:pPr marL="0" indent="0">
              <a:buNone/>
            </a:pPr>
            <a:r>
              <a:rPr lang="en-US" altLang="zh-CN" sz="2400" dirty="0">
                <a:solidFill>
                  <a:srgbClr val="00B050"/>
                </a:solidFill>
                <a:latin typeface="Times New Roman" panose="02020603050405020304" pitchFamily="18" charset="0"/>
                <a:cs typeface="Times New Roman" panose="02020603050405020304" pitchFamily="18" charset="0"/>
              </a:rPr>
              <a:t>First, start by introducing yourself and addressing the company you are applying to</a:t>
            </a:r>
            <a:r>
              <a:rPr lang="en-US" altLang="zh-CN" sz="2400" dirty="0">
                <a:latin typeface="Times New Roman" panose="02020603050405020304" pitchFamily="18" charset="0"/>
                <a:cs typeface="Times New Roman" panose="02020603050405020304" pitchFamily="18" charset="0"/>
              </a:rPr>
              <a:t>. For example, "Hello In Video, I'm John Doe". Not only does this get their attention but it makes them feel prioritized. </a:t>
            </a:r>
            <a:r>
              <a:rPr lang="en-US" altLang="zh-CN" sz="2400" dirty="0">
                <a:solidFill>
                  <a:srgbClr val="00B050"/>
                </a:solidFill>
                <a:latin typeface="Times New Roman" panose="02020603050405020304" pitchFamily="18" charset="0"/>
                <a:cs typeface="Times New Roman" panose="02020603050405020304" pitchFamily="18" charset="0"/>
              </a:rPr>
              <a:t>The next thing is to address what profession you're in or desire to be in. </a:t>
            </a:r>
            <a:r>
              <a:rPr lang="en-US" altLang="zh-CN" sz="2400" dirty="0">
                <a:latin typeface="Times New Roman" panose="02020603050405020304" pitchFamily="18" charset="0"/>
                <a:cs typeface="Times New Roman" panose="02020603050405020304" pitchFamily="18" charset="0"/>
              </a:rPr>
              <a:t>If you're a filmmaker, you can simply state that or be creative with words and say you're a visual storyteller.</a:t>
            </a:r>
          </a:p>
          <a:p>
            <a:pPr marL="0" indent="0">
              <a:buNone/>
            </a:pPr>
            <a:r>
              <a:rPr lang="en-US" altLang="zh-CN" sz="2400" dirty="0">
                <a:solidFill>
                  <a:srgbClr val="00B0F0"/>
                </a:solidFill>
                <a:latin typeface="Times New Roman" panose="02020603050405020304" pitchFamily="18" charset="0"/>
                <a:cs typeface="Times New Roman" panose="02020603050405020304" pitchFamily="18" charset="0"/>
              </a:rPr>
              <a:t>Then, talk about your passion for what you do and support it by referring to your past experiences and work. </a:t>
            </a:r>
            <a:r>
              <a:rPr lang="en-US" altLang="zh-CN" sz="2400" dirty="0">
                <a:latin typeface="Times New Roman" panose="02020603050405020304" pitchFamily="18" charset="0"/>
                <a:cs typeface="Times New Roman" panose="02020603050405020304" pitchFamily="18" charset="0"/>
              </a:rPr>
              <a:t>For example, building on the filmmaker's introduction, you could talk about how meeting people from around the world and sharing their stories deeply motivates you, and then you can share an experience that supports it. You can also focus on life experiences that have led you to cultivate </a:t>
            </a:r>
            <a:r>
              <a:rPr lang="en-US" altLang="zh-CN" sz="2400" dirty="0">
                <a:solidFill>
                  <a:srgbClr val="00B0F0"/>
                </a:solidFill>
                <a:latin typeface="Times New Roman" panose="02020603050405020304" pitchFamily="18" charset="0"/>
                <a:cs typeface="Times New Roman" panose="02020603050405020304" pitchFamily="18" charset="0"/>
              </a:rPr>
              <a:t>skills</a:t>
            </a:r>
            <a:r>
              <a:rPr lang="en-US" altLang="zh-CN" sz="2400" dirty="0">
                <a:latin typeface="Times New Roman" panose="02020603050405020304" pitchFamily="18" charset="0"/>
                <a:cs typeface="Times New Roman" panose="02020603050405020304" pitchFamily="18" charset="0"/>
              </a:rPr>
              <a:t> like taking a year off to travel abroad, volunteering at a shelter, or a hobby that you actively pursue. </a:t>
            </a:r>
            <a:r>
              <a:rPr lang="en-US" altLang="zh-CN" sz="2400" dirty="0">
                <a:solidFill>
                  <a:srgbClr val="00B0F0"/>
                </a:solidFill>
                <a:latin typeface="Times New Roman" panose="02020603050405020304" pitchFamily="18" charset="0"/>
                <a:cs typeface="Times New Roman" panose="02020603050405020304" pitchFamily="18" charset="0"/>
              </a:rPr>
              <a:t>You can also speak about your special achievements and awards </a:t>
            </a:r>
            <a:r>
              <a:rPr lang="en-US" altLang="zh-CN" sz="2400" dirty="0">
                <a:latin typeface="Times New Roman" panose="02020603050405020304" pitchFamily="18" charset="0"/>
                <a:cs typeface="Times New Roman" panose="02020603050405020304" pitchFamily="18" charset="0"/>
              </a:rPr>
              <a:t>that will add value to your profile or you can get someone to speak on behalf of you as social proof.</a:t>
            </a:r>
          </a:p>
          <a:p>
            <a:pPr marL="0" indent="0">
              <a:buNone/>
            </a:pPr>
            <a:r>
              <a:rPr lang="en-US" altLang="zh-CN" sz="2400" dirty="0">
                <a:latin typeface="Times New Roman" panose="02020603050405020304" pitchFamily="18" charset="0"/>
                <a:cs typeface="Times New Roman" panose="02020603050405020304" pitchFamily="18" charset="0"/>
              </a:rPr>
              <a:t>At the end of the video, leave the ball in their court. </a:t>
            </a:r>
            <a:r>
              <a:rPr lang="en-US" altLang="zh-CN" sz="2400" dirty="0">
                <a:solidFill>
                  <a:srgbClr val="7030A0"/>
                </a:solidFill>
                <a:latin typeface="Times New Roman" panose="02020603050405020304" pitchFamily="18" charset="0"/>
                <a:cs typeface="Times New Roman" panose="02020603050405020304" pitchFamily="18" charset="0"/>
              </a:rPr>
              <a:t>However, you also need to give them a reason to call you for an interview.</a:t>
            </a:r>
            <a:r>
              <a:rPr lang="en-US" altLang="zh-CN" sz="2400" dirty="0">
                <a:latin typeface="Times New Roman" panose="02020603050405020304" pitchFamily="18" charset="0"/>
                <a:cs typeface="Times New Roman" panose="02020603050405020304" pitchFamily="18" charset="0"/>
              </a:rPr>
              <a:t> For example, you could end the video with this-</a:t>
            </a:r>
            <a:r>
              <a:rPr lang="en-US" altLang="zh-CN" sz="2400" dirty="0">
                <a:solidFill>
                  <a:srgbClr val="7030A0"/>
                </a:solidFill>
                <a:latin typeface="Times New Roman" panose="02020603050405020304" pitchFamily="18" charset="0"/>
                <a:cs typeface="Times New Roman" panose="02020603050405020304" pitchFamily="18" charset="0"/>
              </a:rPr>
              <a:t>"I have a lot more to me than I could fit in this short video </a:t>
            </a:r>
            <a:r>
              <a:rPr lang="en-US" altLang="zh-CN" sz="2400" dirty="0">
                <a:latin typeface="Times New Roman" panose="02020603050405020304" pitchFamily="18" charset="0"/>
                <a:cs typeface="Times New Roman" panose="02020603050405020304" pitchFamily="18" charset="0"/>
              </a:rPr>
              <a:t>and I hope you give me a chance to tell you about it over an interview".</a:t>
            </a:r>
          </a:p>
        </p:txBody>
      </p:sp>
    </p:spTree>
    <p:extLst>
      <p:ext uri="{BB962C8B-B14F-4D97-AF65-F5344CB8AC3E}">
        <p14:creationId xmlns:p14="http://schemas.microsoft.com/office/powerpoint/2010/main" val="36471197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5DF717-6F73-5546-BD43-6D6006A41F5B}"/>
              </a:ext>
            </a:extLst>
          </p:cNvPr>
          <p:cNvSpPr>
            <a:spLocks noGrp="1"/>
          </p:cNvSpPr>
          <p:nvPr>
            <p:ph type="title"/>
          </p:nvPr>
        </p:nvSpPr>
        <p:spPr/>
        <p:txBody>
          <a:bodyPr/>
          <a:lstStyle/>
          <a:p>
            <a:r>
              <a:rPr lang="en-US" altLang="zh-CN" dirty="0"/>
              <a:t>Summary – Key [K]</a:t>
            </a:r>
            <a:endParaRPr lang="zh-CN" altLang="en-US" dirty="0"/>
          </a:p>
        </p:txBody>
      </p:sp>
      <p:sp>
        <p:nvSpPr>
          <p:cNvPr id="3" name="内容占位符 2">
            <a:extLst>
              <a:ext uri="{FF2B5EF4-FFF2-40B4-BE49-F238E27FC236}">
                <a16:creationId xmlns:a16="http://schemas.microsoft.com/office/drawing/2014/main" id="{17A87E1C-FD15-42D5-FAA8-073F260CFD34}"/>
              </a:ext>
            </a:extLst>
          </p:cNvPr>
          <p:cNvSpPr>
            <a:spLocks noGrp="1"/>
          </p:cNvSpPr>
          <p:nvPr>
            <p:ph idx="1"/>
          </p:nvPr>
        </p:nvSpPr>
        <p:spPr>
          <a:xfrm>
            <a:off x="649420" y="2391962"/>
            <a:ext cx="11231881" cy="4351338"/>
          </a:xfrm>
        </p:spPr>
        <p:txBody>
          <a:bodyPr>
            <a:normAutofit/>
          </a:bodyPr>
          <a:lstStyle/>
          <a:p>
            <a:pPr marL="0" indent="0">
              <a:buNone/>
            </a:pPr>
            <a:r>
              <a:rPr lang="en-US" altLang="zh-CN" sz="3200" dirty="0">
                <a:solidFill>
                  <a:srgbClr val="FF0000"/>
                </a:solidFill>
                <a:latin typeface="Times New Roman" panose="02020603050405020304" pitchFamily="18" charset="0"/>
                <a:cs typeface="Times New Roman" panose="02020603050405020304" pitchFamily="18" charset="0"/>
              </a:rPr>
              <a:t>Video resumés offer a creative way to show personality and skills.[K1] </a:t>
            </a:r>
            <a:r>
              <a:rPr lang="en-US" altLang="zh-CN" sz="3200" dirty="0">
                <a:solidFill>
                  <a:srgbClr val="00B050"/>
                </a:solidFill>
                <a:latin typeface="Times New Roman" panose="02020603050405020304" pitchFamily="18" charset="0"/>
                <a:cs typeface="Times New Roman" panose="02020603050405020304" pitchFamily="18" charset="0"/>
              </a:rPr>
              <a:t>Begin your video resumé by introducing yourself, addressing the company, and stating your profession or desired role.[K2] </a:t>
            </a:r>
            <a:r>
              <a:rPr lang="en-US" altLang="zh-CN" sz="3200" dirty="0">
                <a:solidFill>
                  <a:srgbClr val="00B0F0"/>
                </a:solidFill>
                <a:latin typeface="Times New Roman" panose="02020603050405020304" pitchFamily="18" charset="0"/>
                <a:cs typeface="Times New Roman" panose="02020603050405020304" pitchFamily="18" charset="0"/>
              </a:rPr>
              <a:t>Then discuss your passion and back it with past experiences, life skills, achievements or recommendations.[K3] </a:t>
            </a:r>
            <a:r>
              <a:rPr lang="en-US" altLang="zh-CN" sz="3200" dirty="0">
                <a:solidFill>
                  <a:srgbClr val="7030A0"/>
                </a:solidFill>
                <a:latin typeface="Times New Roman" panose="02020603050405020304" pitchFamily="18" charset="0"/>
                <a:cs typeface="Times New Roman" panose="02020603050405020304" pitchFamily="18" charset="0"/>
              </a:rPr>
              <a:t>Conclude by inviting an interview, emphasizing there's more to share. [K4]</a:t>
            </a:r>
          </a:p>
          <a:p>
            <a:pPr marL="0" indent="0">
              <a:buNone/>
            </a:pPr>
            <a:r>
              <a:rPr lang="en-US" altLang="zh-CN" sz="3200" dirty="0">
                <a:latin typeface="Times New Roman" panose="02020603050405020304" pitchFamily="18" charset="0"/>
                <a:cs typeface="Times New Roman" panose="02020603050405020304" pitchFamily="18" charset="0"/>
              </a:rPr>
              <a:t>										(53 words)</a:t>
            </a:r>
          </a:p>
          <a:p>
            <a:pPr marL="0" indent="0" algn="ctr">
              <a:buNone/>
            </a:pPr>
            <a:r>
              <a:rPr lang="zh-CN" altLang="en-US" sz="3200" b="1" dirty="0">
                <a:latin typeface="Times New Roman" panose="02020603050405020304" pitchFamily="18" charset="0"/>
                <a:cs typeface="Times New Roman" panose="02020603050405020304" pitchFamily="18" charset="0"/>
              </a:rPr>
              <a:t>总分式</a:t>
            </a:r>
            <a:r>
              <a:rPr lang="en-US" altLang="zh-CN" sz="3200" dirty="0">
                <a:latin typeface="Times New Roman" panose="02020603050405020304" pitchFamily="18" charset="0"/>
                <a:cs typeface="Times New Roman" panose="02020603050405020304" pitchFamily="18" charset="0"/>
              </a:rPr>
              <a:t>——</a:t>
            </a:r>
            <a:r>
              <a:rPr lang="en-US" altLang="zh-CN" sz="3200" b="1" i="1" dirty="0">
                <a:latin typeface="Times New Roman" panose="02020603050405020304" pitchFamily="18" charset="0"/>
                <a:cs typeface="Times New Roman" panose="02020603050405020304" pitchFamily="18" charset="0"/>
              </a:rPr>
              <a:t>General-Specific Mode</a:t>
            </a:r>
          </a:p>
        </p:txBody>
      </p:sp>
    </p:spTree>
    <p:extLst>
      <p:ext uri="{BB962C8B-B14F-4D97-AF65-F5344CB8AC3E}">
        <p14:creationId xmlns:p14="http://schemas.microsoft.com/office/powerpoint/2010/main" val="1200580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754FB0-EAC2-4B3B-A980-6A8056A63DD7}"/>
              </a:ext>
            </a:extLst>
          </p:cNvPr>
          <p:cNvSpPr>
            <a:spLocks noGrp="1"/>
          </p:cNvSpPr>
          <p:nvPr>
            <p:ph type="title"/>
          </p:nvPr>
        </p:nvSpPr>
        <p:spPr/>
        <p:txBody>
          <a:bodyPr/>
          <a:lstStyle/>
          <a:p>
            <a:r>
              <a:rPr lang="en-US" altLang="zh-CN" dirty="0"/>
              <a:t>Guided Writing</a:t>
            </a:r>
            <a:endParaRPr lang="zh-CN" altLang="en-US" dirty="0"/>
          </a:p>
        </p:txBody>
      </p:sp>
      <p:sp>
        <p:nvSpPr>
          <p:cNvPr id="3" name="内容占位符 2">
            <a:extLst>
              <a:ext uri="{FF2B5EF4-FFF2-40B4-BE49-F238E27FC236}">
                <a16:creationId xmlns:a16="http://schemas.microsoft.com/office/drawing/2014/main" id="{F8BD51C3-9684-A6D5-9B04-E373239E2DCB}"/>
              </a:ext>
            </a:extLst>
          </p:cNvPr>
          <p:cNvSpPr>
            <a:spLocks noGrp="1"/>
          </p:cNvSpPr>
          <p:nvPr>
            <p:ph idx="1"/>
          </p:nvPr>
        </p:nvSpPr>
        <p:spPr>
          <a:xfrm>
            <a:off x="619429" y="1504335"/>
            <a:ext cx="11196976" cy="6554182"/>
          </a:xfrm>
        </p:spPr>
        <p:txBody>
          <a:bodyPr>
            <a:normAutofit/>
          </a:bodyPr>
          <a:lstStyle/>
          <a:p>
            <a:pPr marL="0" indent="0">
              <a:buNone/>
            </a:pPr>
            <a:r>
              <a:rPr lang="zh-CN" altLang="en-US" dirty="0">
                <a:latin typeface="楷体" panose="02010609060101010101" pitchFamily="49" charset="-122"/>
                <a:ea typeface="楷体" panose="02010609060101010101" pitchFamily="49" charset="-122"/>
              </a:rPr>
              <a:t>假设你是明启中学高三学生李明，收到年龄相仿的英国笔友</a:t>
            </a:r>
            <a:r>
              <a:rPr lang="en-US" altLang="zh-CN" dirty="0">
                <a:latin typeface="Times New Roman" panose="02020603050405020304" pitchFamily="18" charset="0"/>
                <a:ea typeface="楷体" panose="02010609060101010101" pitchFamily="49" charset="-122"/>
                <a:cs typeface="Times New Roman" panose="02020603050405020304" pitchFamily="18" charset="0"/>
              </a:rPr>
              <a:t>Mary</a:t>
            </a:r>
            <a:r>
              <a:rPr lang="zh-CN" altLang="en-US" dirty="0">
                <a:latin typeface="楷体" panose="02010609060101010101" pitchFamily="49" charset="-122"/>
                <a:ea typeface="楷体" panose="02010609060101010101" pitchFamily="49" charset="-122"/>
              </a:rPr>
              <a:t>的邮件（如下），她将于下周末在家中接待来自中国的几位同龄人，但不知道该做些什么准备。请回复她的邮件，内容须包括：</a:t>
            </a:r>
            <a:r>
              <a:rPr lang="en-US" altLang="zh-CN" dirty="0">
                <a:latin typeface="楷体" panose="02010609060101010101" pitchFamily="49" charset="-122"/>
                <a:ea typeface="楷体" panose="02010609060101010101" pitchFamily="49" charset="-122"/>
              </a:rPr>
              <a:t>(1)</a:t>
            </a:r>
            <a:r>
              <a:rPr lang="zh-CN" altLang="en-US" dirty="0">
                <a:latin typeface="楷体" panose="02010609060101010101" pitchFamily="49" charset="-122"/>
                <a:ea typeface="楷体" panose="02010609060101010101" pitchFamily="49" charset="-122"/>
              </a:rPr>
              <a:t>你的建议；</a:t>
            </a:r>
            <a:r>
              <a:rPr lang="en-US" altLang="zh-CN" dirty="0">
                <a:latin typeface="楷体" panose="02010609060101010101" pitchFamily="49" charset="-122"/>
                <a:ea typeface="楷体" panose="02010609060101010101" pitchFamily="49" charset="-122"/>
              </a:rPr>
              <a:t>(2)</a:t>
            </a:r>
            <a:r>
              <a:rPr lang="zh-CN" altLang="en-US" dirty="0">
                <a:latin typeface="楷体" panose="02010609060101010101" pitchFamily="49" charset="-122"/>
                <a:ea typeface="楷体" panose="02010609060101010101" pitchFamily="49" charset="-122"/>
              </a:rPr>
              <a:t>你的理由。</a:t>
            </a:r>
          </a:p>
          <a:p>
            <a:pPr marL="0" indent="0">
              <a:buNone/>
            </a:pPr>
            <a:r>
              <a:rPr lang="en-US" altLang="zh-CN" dirty="0">
                <a:latin typeface="Times New Roman" panose="02020603050405020304" pitchFamily="18" charset="0"/>
                <a:cs typeface="Times New Roman" panose="02020603050405020304" pitchFamily="18" charset="0"/>
              </a:rPr>
              <a:t>Subject: Seeking Advice on Hosting Friends from China </a:t>
            </a:r>
          </a:p>
          <a:p>
            <a:pPr marL="0" indent="0">
              <a:buNone/>
            </a:pPr>
            <a:r>
              <a:rPr lang="en-US" altLang="zh-CN" dirty="0">
                <a:latin typeface="Times New Roman" panose="02020603050405020304" pitchFamily="18" charset="0"/>
                <a:cs typeface="Times New Roman" panose="02020603050405020304" pitchFamily="18" charset="0"/>
              </a:rPr>
              <a:t>Dear Li Ming,</a:t>
            </a:r>
          </a:p>
          <a:p>
            <a:pPr marL="0" indent="0">
              <a:buNone/>
            </a:pPr>
            <a:r>
              <a:rPr lang="en-US" altLang="zh-CN" dirty="0">
                <a:latin typeface="Times New Roman" panose="02020603050405020304" pitchFamily="18" charset="0"/>
                <a:cs typeface="Times New Roman" panose="02020603050405020304" pitchFamily="18" charset="0"/>
              </a:rPr>
              <a:t>I hope you're well! I'm reaching out because I'll be hosting a few friends from China at my home next weekend, and I don't know what preparations I should make to ensure they feel comfortable and welcome. Do you have any suggestions?</a:t>
            </a:r>
          </a:p>
          <a:p>
            <a:pPr marL="0" indent="0">
              <a:buNone/>
            </a:pPr>
            <a:r>
              <a:rPr lang="en-US" altLang="zh-CN" dirty="0">
                <a:latin typeface="Times New Roman" panose="02020603050405020304" pitchFamily="18" charset="0"/>
                <a:cs typeface="Times New Roman" panose="02020603050405020304" pitchFamily="18" charset="0"/>
              </a:rPr>
              <a:t>Thank you in advance for any advice you can share!</a:t>
            </a:r>
          </a:p>
          <a:p>
            <a:pPr marL="0" indent="0">
              <a:buNone/>
            </a:pPr>
            <a:r>
              <a:rPr lang="en-US" altLang="zh-CN" dirty="0">
                <a:latin typeface="Times New Roman" panose="02020603050405020304" pitchFamily="18" charset="0"/>
                <a:cs typeface="Times New Roman" panose="02020603050405020304" pitchFamily="18" charset="0"/>
              </a:rPr>
              <a:t>										Best, Mary </a:t>
            </a:r>
          </a:p>
          <a:p>
            <a:endParaRPr lang="zh-CN" altLang="en-US" dirty="0"/>
          </a:p>
        </p:txBody>
      </p:sp>
      <p:sp>
        <p:nvSpPr>
          <p:cNvPr id="4" name="矩形 3">
            <a:extLst>
              <a:ext uri="{FF2B5EF4-FFF2-40B4-BE49-F238E27FC236}">
                <a16:creationId xmlns:a16="http://schemas.microsoft.com/office/drawing/2014/main" id="{725E2286-F36B-BD52-7CE5-A01B49EFCDC1}"/>
              </a:ext>
            </a:extLst>
          </p:cNvPr>
          <p:cNvSpPr/>
          <p:nvPr/>
        </p:nvSpPr>
        <p:spPr>
          <a:xfrm>
            <a:off x="619429" y="3197525"/>
            <a:ext cx="11008979" cy="3594339"/>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2835350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466BA6-83F4-0C24-4D75-026E2FB190D0}"/>
              </a:ext>
            </a:extLst>
          </p:cNvPr>
          <p:cNvSpPr>
            <a:spLocks noGrp="1"/>
          </p:cNvSpPr>
          <p:nvPr>
            <p:ph type="title"/>
          </p:nvPr>
        </p:nvSpPr>
        <p:spPr/>
        <p:txBody>
          <a:bodyPr/>
          <a:lstStyle/>
          <a:p>
            <a:r>
              <a:rPr lang="en-US" altLang="zh-CN" dirty="0"/>
              <a:t>Outline</a:t>
            </a:r>
            <a:endParaRPr lang="zh-CN" altLang="en-US" dirty="0"/>
          </a:p>
        </p:txBody>
      </p:sp>
      <p:sp>
        <p:nvSpPr>
          <p:cNvPr id="3" name="内容占位符 2">
            <a:extLst>
              <a:ext uri="{FF2B5EF4-FFF2-40B4-BE49-F238E27FC236}">
                <a16:creationId xmlns:a16="http://schemas.microsoft.com/office/drawing/2014/main" id="{636C0271-A243-0664-CA48-FD8EB5B85EFD}"/>
              </a:ext>
            </a:extLst>
          </p:cNvPr>
          <p:cNvSpPr>
            <a:spLocks noGrp="1"/>
          </p:cNvSpPr>
          <p:nvPr>
            <p:ph idx="1"/>
          </p:nvPr>
        </p:nvSpPr>
        <p:spPr/>
        <p:txBody>
          <a:bodyPr>
            <a:normAutofit lnSpcReduction="10000"/>
          </a:bodyPr>
          <a:lstStyle/>
          <a:p>
            <a:pPr marL="0" indent="0">
              <a:buNone/>
            </a:pPr>
            <a:r>
              <a:rPr lang="zh-CN" altLang="en-US" dirty="0"/>
              <a:t>①开头寒暄问好</a:t>
            </a:r>
            <a:r>
              <a:rPr lang="en-US" altLang="zh-CN" dirty="0"/>
              <a:t>: </a:t>
            </a:r>
          </a:p>
          <a:p>
            <a:pPr marL="514350" indent="-514350">
              <a:buFont typeface="+mj-lt"/>
              <a:buAutoNum type="arabicPeriod"/>
            </a:pPr>
            <a:r>
              <a:rPr lang="en-US" altLang="zh-CN" dirty="0"/>
              <a:t>I hope this message finds you well…</a:t>
            </a:r>
          </a:p>
          <a:p>
            <a:pPr marL="514350" indent="-514350">
              <a:buFont typeface="+mj-lt"/>
              <a:buAutoNum type="arabicPeriod"/>
            </a:pPr>
            <a:r>
              <a:rPr lang="en-US" altLang="zh-CN" dirty="0"/>
              <a:t>I’m elated to learn that…</a:t>
            </a:r>
          </a:p>
          <a:p>
            <a:pPr marL="0" indent="0">
              <a:buNone/>
            </a:pPr>
            <a:r>
              <a:rPr lang="zh-CN" altLang="en-US" dirty="0"/>
              <a:t>②你的建议</a:t>
            </a:r>
            <a:r>
              <a:rPr lang="en-US" altLang="zh-CN" dirty="0"/>
              <a:t>:</a:t>
            </a:r>
          </a:p>
          <a:p>
            <a:pPr marL="0" indent="0">
              <a:buNone/>
            </a:pPr>
            <a:r>
              <a:rPr lang="zh-CN" altLang="en-US" dirty="0"/>
              <a:t>符合中国的待人接物的礼仪</a:t>
            </a:r>
            <a:r>
              <a:rPr lang="en-US" altLang="zh-CN" dirty="0"/>
              <a:t>-</a:t>
            </a:r>
            <a:r>
              <a:rPr lang="zh-CN" altLang="en-US" dirty="0"/>
              <a:t>联想中国传统文化</a:t>
            </a:r>
            <a:r>
              <a:rPr lang="en-US" altLang="zh-CN" dirty="0"/>
              <a:t>…</a:t>
            </a:r>
          </a:p>
          <a:p>
            <a:pPr marL="0" indent="0">
              <a:buNone/>
            </a:pPr>
            <a:r>
              <a:rPr lang="zh-CN" altLang="en-US" dirty="0"/>
              <a:t>学几句通用的中文打招呼</a:t>
            </a:r>
            <a:r>
              <a:rPr lang="en-US" altLang="zh-CN" dirty="0"/>
              <a:t>…</a:t>
            </a:r>
          </a:p>
          <a:p>
            <a:pPr marL="0" indent="0">
              <a:buNone/>
            </a:pPr>
            <a:r>
              <a:rPr lang="zh-CN" altLang="en-US" dirty="0"/>
              <a:t>③你的理由</a:t>
            </a:r>
            <a:endParaRPr lang="en-US" altLang="zh-CN" dirty="0"/>
          </a:p>
          <a:p>
            <a:pPr marL="0" indent="0">
              <a:buNone/>
            </a:pPr>
            <a:r>
              <a:rPr lang="en-US" altLang="zh-CN" dirty="0"/>
              <a:t>Feel like home… polite and warm welcoming…</a:t>
            </a:r>
          </a:p>
          <a:p>
            <a:pPr marL="0" indent="0">
              <a:buNone/>
            </a:pPr>
            <a:r>
              <a:rPr lang="zh-CN" altLang="en-US" dirty="0"/>
              <a:t>④结尾收束</a:t>
            </a:r>
            <a:r>
              <a:rPr lang="en-US" altLang="zh-CN" dirty="0"/>
              <a:t>: Wish you have fun with your peers…</a:t>
            </a:r>
          </a:p>
        </p:txBody>
      </p:sp>
    </p:spTree>
    <p:extLst>
      <p:ext uri="{BB962C8B-B14F-4D97-AF65-F5344CB8AC3E}">
        <p14:creationId xmlns:p14="http://schemas.microsoft.com/office/powerpoint/2010/main" val="300242463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TotalTime>
  <Words>856</Words>
  <Application>Microsoft Office PowerPoint</Application>
  <PresentationFormat>宽屏</PresentationFormat>
  <Paragraphs>41</Paragraphs>
  <Slides>7</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7</vt:i4>
      </vt:variant>
    </vt:vector>
  </HeadingPairs>
  <TitlesOfParts>
    <vt:vector size="13" baseType="lpstr">
      <vt:lpstr>等线</vt:lpstr>
      <vt:lpstr>等线 Light</vt:lpstr>
      <vt:lpstr>楷体</vt:lpstr>
      <vt:lpstr>Arial</vt:lpstr>
      <vt:lpstr>Times New Roman</vt:lpstr>
      <vt:lpstr>Office 主题​​</vt:lpstr>
      <vt:lpstr>2025 黄浦二卷</vt:lpstr>
      <vt:lpstr>Translation </vt:lpstr>
      <vt:lpstr>Translation</vt:lpstr>
      <vt:lpstr>Summary</vt:lpstr>
      <vt:lpstr>Summary – Key [K]</vt:lpstr>
      <vt:lpstr>Guided Writing</vt:lpstr>
      <vt:lpstr>Outline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诺 许</dc:creator>
  <cp:lastModifiedBy>诺 许</cp:lastModifiedBy>
  <cp:revision>11</cp:revision>
  <dcterms:created xsi:type="dcterms:W3CDTF">2025-09-15T14:49:52Z</dcterms:created>
  <dcterms:modified xsi:type="dcterms:W3CDTF">2025-09-30T04:26:04Z</dcterms:modified>
</cp:coreProperties>
</file>