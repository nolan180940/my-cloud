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9" r:id="rId4"/>
    <p:sldId id="257" r:id="rId5"/>
    <p:sldId id="260" r:id="rId6"/>
    <p:sldId id="268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 autoAdjust="0"/>
    <p:restoredTop sz="94660"/>
  </p:normalViewPr>
  <p:slideViewPr>
    <p:cSldViewPr snapToGrid="0">
      <p:cViewPr varScale="1">
        <p:scale>
          <a:sx n="39" d="100"/>
          <a:sy n="39" d="100"/>
        </p:scale>
        <p:origin x="66" y="1005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26C38-4A6B-46E4-BEBD-B6D592BB02C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D1128-7810-44AF-AE35-C0208098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11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D1128-7810-44AF-AE35-C02080983B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269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43EF-DA9B-3A35-B5CA-E24E7372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686592-A4EA-CE3B-144B-58EDC0BF6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F042B9-E554-0DF9-2F6C-E122DDA4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980DB-3EE4-46EE-E5A5-96E92518C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D1128-7810-44AF-AE35-C02080983B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048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17CED-0042-7DDB-8756-88E5EE503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6761D3-40EE-F237-994F-86CF928AA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9DD182-82D6-0053-A614-BCE4B7E08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A0ED26-971B-E233-5355-0787AA458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D1128-7810-44AF-AE35-C02080983B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651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D1128-7810-44AF-AE35-C02080983B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88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D1128-7810-44AF-AE35-C02080983B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674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46360-54BA-6EE4-E9E6-768206C55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AC2CAF-1481-E7F1-C337-98CFB97FF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DF1B2-BD93-75CD-4199-6133EFB0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0BF47-0B0D-9ACF-7349-548C0334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366E1D-001D-5DB0-C955-AC800406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0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4FEF5-D39B-91FB-66F2-0EDB9754C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BBCCA-AA42-C6A3-3894-475D79984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D1AD4-48A2-3344-0DDF-D710018B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5A310-54F6-7CB3-C0D1-C490EE6D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C4BBD-FD5F-F549-6114-3E0EC278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45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89456-3EC5-439F-CAE2-2ECAB0FC8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42A651-FA32-A9E1-C932-B49BF97FF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5265A-41B9-1FFE-B6C0-95144896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DBC233-CE39-BAA1-B6BB-CBC1ADA0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4679E-297A-F8B5-BD56-4C4FF215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71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96D01-CFFB-445C-0A5B-03319037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894A1A-A85A-187E-433B-E811CF4A7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2588C8-F7F8-BBF5-B7D1-0CF305B03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D138B3-943D-0985-D41D-811F0475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34434A-EC92-C1CC-7916-5C61F620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16D42B-020D-DCEE-A660-F3A0427D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62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836E3-5323-950C-1068-1E907142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250010-0032-FD76-12D1-B67F4CEA4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F06CF6-681C-F7FD-B000-77D4355AA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40C7AF-0FD4-48E0-A167-86FC4B5F7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70667F-7833-FAF9-8363-52F0EF856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55933A-EEDC-ED07-510E-43CEC581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1310E1-04C3-3BCE-5751-42DC2FDF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DBD64A-2430-7F3E-6DC5-D9C14939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11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17307-B790-8940-69C6-BC0853F8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69D481-6195-7A24-87BD-5FFA610B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44C417-7E17-FB0A-664A-5C5A69E2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2D48F7-442F-FC45-0CCD-F2AAB6B3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02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BE21D7-E60F-7948-EDD9-375785A4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13AA22-94B8-2F24-58B0-62FD8154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09BB5-4ECF-0B6D-9F16-634A7864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50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82284-6214-8BF1-D45F-569BB5CC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72060F-3752-6E8F-B941-58B4993A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7E1D36-41B6-CB61-1400-29562639B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0C69F-A4FB-9155-E84B-CC552877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5EA371-D052-B5EF-547D-75529581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1E5203-CFE6-DD88-B99C-E385154E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72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3B2CA-167B-87D0-6459-4F1EB54C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E41BFF-0663-239B-F207-0B8626CC8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1C0DE9-21EF-9019-DBD1-57952495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9BAC6A-2B49-5E25-E856-068A04DC9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4E3BCC-3577-4CA7-0553-47A18968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1B92AE-0D55-2BAA-9AED-695156E1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416FC-7F95-E51E-9DB9-28D24DE7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88A49-E816-0FB6-F06D-CDAB009CA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7C01BD-EDBB-B2FB-EED1-A5611FBE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E8244B-CC7B-7207-5387-879CF761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77BB18-4B39-7070-12DF-EDEE001D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55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73439D-6626-3CFD-DC0E-3868083DE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97AA48-9E03-23DA-1636-C91555F9C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3165A9-AAE7-D22D-6899-84C777F1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AE343F-CEB8-F2A2-8BB8-86CB4792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9F648-394C-CFA0-FE2A-8415A43D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63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5C1D3E-08E7-71B4-FDC5-8C97A383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3FD351-A7F9-BC4C-981B-FA9D77718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91871-1E12-3B6C-79D5-98C9C01EC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145EB-11F0-43B0-9EB3-B074A74FB467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DF9B6-F07E-1BEE-2B8C-0847B4FE8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F0F4D-28E3-FC16-3C1B-82CB51E9E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16F0E-9FEC-468E-92BC-D3BD70A45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68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8000" b="-10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6D23A4B-0EC6-1B46-D458-0B9004F8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916" y="1705620"/>
            <a:ext cx="6259246" cy="3844041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“Mankind was born on Earth. </a:t>
            </a:r>
            <a:b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It was never meant to die here.”</a:t>
            </a:r>
            <a:b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b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— Cooper, 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Interstellar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2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6CE2F-025E-FF5D-A3F1-DDA20FDB6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88563" y="-150344"/>
            <a:ext cx="9144000" cy="3200400"/>
          </a:xfrm>
        </p:spPr>
        <p:txBody>
          <a:bodyPr>
            <a:normAutofit/>
          </a:bodyPr>
          <a:lstStyle/>
          <a:p>
            <a:r>
              <a:rPr lang="en-US" altLang="zh-CN" sz="7000" dirty="0">
                <a:solidFill>
                  <a:schemeClr val="bg1"/>
                </a:solidFill>
                <a:latin typeface="Times New Roman" panose="02020603050405020304" pitchFamily="18" charset="0"/>
                <a:ea typeface="Cascadia Mono Light" panose="020B0609020000020004" pitchFamily="49" charset="0"/>
                <a:cs typeface="Times New Roman" panose="02020603050405020304" pitchFamily="18" charset="0"/>
              </a:rPr>
              <a:t>INTERSTELLAR</a:t>
            </a:r>
            <a:br>
              <a:rPr lang="en-US" altLang="zh-CN" sz="7000" dirty="0">
                <a:solidFill>
                  <a:schemeClr val="bg1"/>
                </a:solidFill>
                <a:latin typeface="Times New Roman" panose="02020603050405020304" pitchFamily="18" charset="0"/>
                <a:ea typeface="Cascadia Mono Light" panose="020B0609020000020004" pitchFamily="49" charset="0"/>
                <a:cs typeface="Times New Roman" panose="02020603050405020304" pitchFamily="18" charset="0"/>
              </a:rPr>
            </a:br>
            <a:r>
              <a:rPr lang="en-US" altLang="zh-CN" sz="7000" dirty="0">
                <a:solidFill>
                  <a:schemeClr val="bg1"/>
                </a:solidFill>
                <a:latin typeface="Times New Roman" panose="02020603050405020304" pitchFamily="18" charset="0"/>
                <a:ea typeface="Cascadia Mono Light" panose="020B0609020000020004" pitchFamily="49" charset="0"/>
                <a:cs typeface="Times New Roman" panose="02020603050405020304" pitchFamily="18" charset="0"/>
              </a:rPr>
              <a:t>(2014)</a:t>
            </a:r>
            <a:endParaRPr lang="zh-CN" altLang="en-US" sz="7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B220E1-F7B8-3411-E2AF-50F068FBF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36618" y="356061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Cosmic Parable of Love, Time, 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Survival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A16D09-BA8F-28B7-6E66-EF3D91B17F4A}"/>
              </a:ext>
            </a:extLst>
          </p:cNvPr>
          <p:cNvSpPr txBox="1"/>
          <p:nvPr/>
        </p:nvSpPr>
        <p:spPr>
          <a:xfrm>
            <a:off x="7107382" y="6324600"/>
            <a:ext cx="5403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Mid-term Presentation | Presented by: Nuo, Xu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3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BE591AA-332B-33F8-FAE7-343E953DA4BC}"/>
              </a:ext>
            </a:extLst>
          </p:cNvPr>
          <p:cNvCxnSpPr>
            <a:cxnSpLocks/>
          </p:cNvCxnSpPr>
          <p:nvPr/>
        </p:nvCxnSpPr>
        <p:spPr>
          <a:xfrm>
            <a:off x="5999017" y="706582"/>
            <a:ext cx="0" cy="22305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44E16DC-3C81-5D4B-34A3-3AD55BB0DDA5}"/>
              </a:ext>
            </a:extLst>
          </p:cNvPr>
          <p:cNvCxnSpPr>
            <a:cxnSpLocks/>
          </p:cNvCxnSpPr>
          <p:nvPr/>
        </p:nvCxnSpPr>
        <p:spPr>
          <a:xfrm rot="3600000">
            <a:off x="4800598" y="2905990"/>
            <a:ext cx="0" cy="22305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EEFD6A2-DBF7-AB8F-46C1-A2799BD20FAC}"/>
              </a:ext>
            </a:extLst>
          </p:cNvPr>
          <p:cNvCxnSpPr>
            <a:cxnSpLocks/>
          </p:cNvCxnSpPr>
          <p:nvPr/>
        </p:nvCxnSpPr>
        <p:spPr>
          <a:xfrm rot="7200000">
            <a:off x="7200415" y="2905990"/>
            <a:ext cx="0" cy="22305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4C70E5D-FB55-D232-EDD1-2483C1BB810E}"/>
              </a:ext>
            </a:extLst>
          </p:cNvPr>
          <p:cNvSpPr txBox="1"/>
          <p:nvPr/>
        </p:nvSpPr>
        <p:spPr>
          <a:xfrm>
            <a:off x="1645722" y="1367941"/>
            <a:ext cx="45472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Introduction to INTERSTELLAR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FEE89-21C5-F1D0-543A-A124F257727B}"/>
              </a:ext>
            </a:extLst>
          </p:cNvPr>
          <p:cNvSpPr txBox="1"/>
          <p:nvPr/>
        </p:nvSpPr>
        <p:spPr>
          <a:xfrm>
            <a:off x="6234545" y="1367941"/>
            <a:ext cx="45472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Reception, Themes &amp; Critique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B37D6E-8772-BD78-4031-91889F2B46D7}"/>
              </a:ext>
            </a:extLst>
          </p:cNvPr>
          <p:cNvSpPr txBox="1"/>
          <p:nvPr/>
        </p:nvSpPr>
        <p:spPr>
          <a:xfrm>
            <a:off x="4269666" y="4549276"/>
            <a:ext cx="37728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Conclusion       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76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EB0BB-15FA-4EC4-E01B-02CFBCE46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1" y="3600753"/>
            <a:ext cx="5636823" cy="57080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November 11, 2014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2D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Christopher Nolan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494A48-5ABD-7A0C-3C68-24905A615A90}"/>
              </a:ext>
            </a:extLst>
          </p:cNvPr>
          <p:cNvSpPr txBox="1"/>
          <p:nvPr/>
        </p:nvSpPr>
        <p:spPr>
          <a:xfrm>
            <a:off x="251359" y="314465"/>
            <a:ext cx="8615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Introduction to INTERSTELLAR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36216D-19F6-0E27-3CF7-6801B7347FA4}"/>
              </a:ext>
            </a:extLst>
          </p:cNvPr>
          <p:cNvSpPr txBox="1"/>
          <p:nvPr/>
        </p:nvSpPr>
        <p:spPr>
          <a:xfrm>
            <a:off x="8866909" y="1526523"/>
            <a:ext cx="6096000" cy="2471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Genre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Science Fiction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Adventure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Cosmic Epic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67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3BE33-CE99-6537-A1C5-EAB1597F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1ECCF7-4328-7E62-74B9-BD43B0F791D2}"/>
              </a:ext>
            </a:extLst>
          </p:cNvPr>
          <p:cNvSpPr txBox="1"/>
          <p:nvPr/>
        </p:nvSpPr>
        <p:spPr>
          <a:xfrm>
            <a:off x="198032" y="1524038"/>
            <a:ext cx="36833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 a dying future Earth, former pilot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Cooper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embarks on a desperate mission through a wormhole to find a new home for humanity.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0F7301-6A49-67BE-C9BB-EDEBC84CEB25}"/>
              </a:ext>
            </a:extLst>
          </p:cNvPr>
          <p:cNvSpPr txBox="1"/>
          <p:nvPr/>
        </p:nvSpPr>
        <p:spPr>
          <a:xfrm>
            <a:off x="251359" y="314465"/>
            <a:ext cx="8615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I. Introduction to INTERSTELLAR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山上有许多云&#10;&#10;AI 生成的内容可能不正确。">
            <a:extLst>
              <a:ext uri="{FF2B5EF4-FFF2-40B4-BE49-F238E27FC236}">
                <a16:creationId xmlns:a16="http://schemas.microsoft.com/office/drawing/2014/main" id="{B47FF780-DB88-F751-CE0D-D96C742BD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0801"/>
            <a:ext cx="5946475" cy="24611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 descr="图片包含 室内, 桌子, 站, 女人&#10;&#10;AI 生成的内容可能不正确。">
            <a:extLst>
              <a:ext uri="{FF2B5EF4-FFF2-40B4-BE49-F238E27FC236}">
                <a16:creationId xmlns:a16="http://schemas.microsoft.com/office/drawing/2014/main" id="{BF74166A-7D4C-BA40-CA36-A2E99F5322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1671" y="1190816"/>
            <a:ext cx="2980553" cy="3686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图片 9" descr="文本, 信件&#10;&#10;AI 生成的内容可能不正确。">
            <a:extLst>
              <a:ext uri="{FF2B5EF4-FFF2-40B4-BE49-F238E27FC236}">
                <a16:creationId xmlns:a16="http://schemas.microsoft.com/office/drawing/2014/main" id="{13404F23-0EA1-7BC4-A2CD-0F9DF82CE1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909" y="4374788"/>
            <a:ext cx="3245743" cy="2415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147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A3D60-39CE-1E98-2556-98509C8F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755B52E-C2E4-954D-85EC-F01230B75972}"/>
              </a:ext>
            </a:extLst>
          </p:cNvPr>
          <p:cNvSpPr txBox="1"/>
          <p:nvPr/>
        </p:nvSpPr>
        <p:spPr>
          <a:xfrm>
            <a:off x="251359" y="1626570"/>
            <a:ext cx="3422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hile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his daughter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Murph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fights to save those left behind — their bond transcends time and space.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692C32-08E2-255E-A929-0451C29DBC16}"/>
              </a:ext>
            </a:extLst>
          </p:cNvPr>
          <p:cNvSpPr txBox="1"/>
          <p:nvPr/>
        </p:nvSpPr>
        <p:spPr>
          <a:xfrm>
            <a:off x="251359" y="314465"/>
            <a:ext cx="8615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I. Introduction to INTERSTELLAR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男人和女人在接吻&#10;&#10;AI 生成的内容可能不正确。">
            <a:extLst>
              <a:ext uri="{FF2B5EF4-FFF2-40B4-BE49-F238E27FC236}">
                <a16:creationId xmlns:a16="http://schemas.microsoft.com/office/drawing/2014/main" id="{E81B8C45-ED7C-2277-A0AC-1D28027FB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766" y="4479560"/>
            <a:ext cx="5773948" cy="24180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 descr="男人的脸被修图的人脸&#10;&#10;AI 生成的内容可能不正确。">
            <a:extLst>
              <a:ext uri="{FF2B5EF4-FFF2-40B4-BE49-F238E27FC236}">
                <a16:creationId xmlns:a16="http://schemas.microsoft.com/office/drawing/2014/main" id="{6E657A4E-1F0D-3364-B1D1-812340C113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820" y="4479560"/>
            <a:ext cx="5693434" cy="23806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图片 9" descr="手里拿着烟&#10;&#10;AI 生成的内容可能不正确。">
            <a:extLst>
              <a:ext uri="{FF2B5EF4-FFF2-40B4-BE49-F238E27FC236}">
                <a16:creationId xmlns:a16="http://schemas.microsoft.com/office/drawing/2014/main" id="{2B83B020-A7EE-EC50-7BBF-F6E2044A1B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4" t="20184" r="21401" b="17291"/>
          <a:stretch>
            <a:fillRect/>
          </a:stretch>
        </p:blipFill>
        <p:spPr>
          <a:xfrm>
            <a:off x="8240924" y="1083906"/>
            <a:ext cx="3824555" cy="24227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556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9240EF3-4C8E-8A4E-0A78-51F7BFA22BD7}"/>
              </a:ext>
            </a:extLst>
          </p:cNvPr>
          <p:cNvSpPr txBox="1"/>
          <p:nvPr/>
        </p:nvSpPr>
        <p:spPr>
          <a:xfrm>
            <a:off x="4052455" y="1515025"/>
            <a:ext cx="3775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Success</a:t>
            </a:r>
            <a:endParaRPr lang="zh-CN" alt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858F07-7729-03AB-9399-4693F5A981F9}"/>
              </a:ext>
            </a:extLst>
          </p:cNvPr>
          <p:cNvSpPr txBox="1"/>
          <p:nvPr/>
        </p:nvSpPr>
        <p:spPr>
          <a:xfrm>
            <a:off x="401782" y="4558145"/>
            <a:ext cx="3775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$758 million worldwide</a:t>
            </a:r>
            <a:endParaRPr lang="zh-CN" alt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806247-7CB2-7B5A-545F-BB14E1221105}"/>
              </a:ext>
            </a:extLst>
          </p:cNvPr>
          <p:cNvSpPr txBox="1"/>
          <p:nvPr/>
        </p:nvSpPr>
        <p:spPr>
          <a:xfrm>
            <a:off x="7169727" y="2644170"/>
            <a:ext cx="3775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"an amazing achievement"</a:t>
            </a:r>
            <a:endParaRPr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CC6487-2CA5-1CF4-FB43-0546F3F194D7}"/>
              </a:ext>
            </a:extLst>
          </p:cNvPr>
          <p:cNvSpPr txBox="1"/>
          <p:nvPr/>
        </p:nvSpPr>
        <p:spPr>
          <a:xfrm>
            <a:off x="4959926" y="4558145"/>
            <a:ext cx="69064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“Simultaneously a big-budget science fiction endeavor and a very simple tale of love and sacrifice.”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B56644-740F-5C76-6EDD-C5BA61418883}"/>
              </a:ext>
            </a:extLst>
          </p:cNvPr>
          <p:cNvSpPr txBox="1"/>
          <p:nvPr/>
        </p:nvSpPr>
        <p:spPr>
          <a:xfrm>
            <a:off x="4866408" y="6312471"/>
            <a:ext cx="424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——James Berardinelli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E4C7FB-A6D4-70DF-9647-C30619B19C40}"/>
              </a:ext>
            </a:extLst>
          </p:cNvPr>
          <p:cNvSpPr txBox="1"/>
          <p:nvPr/>
        </p:nvSpPr>
        <p:spPr>
          <a:xfrm>
            <a:off x="325582" y="253142"/>
            <a:ext cx="82780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Reception, Themes &amp; Critique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5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E9304FA-D7C4-9D28-3123-DEB34476C936}"/>
              </a:ext>
            </a:extLst>
          </p:cNvPr>
          <p:cNvSpPr txBox="1"/>
          <p:nvPr/>
        </p:nvSpPr>
        <p:spPr>
          <a:xfrm>
            <a:off x="96982" y="197724"/>
            <a:ext cx="82780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Reception, Themes </a:t>
            </a:r>
          </a:p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Critique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50EB9A-D74F-3EE1-6BBE-6297D8E4EE31}"/>
              </a:ext>
            </a:extLst>
          </p:cNvPr>
          <p:cNvSpPr txBox="1"/>
          <p:nvPr/>
        </p:nvSpPr>
        <p:spPr>
          <a:xfrm>
            <a:off x="7299384" y="2327564"/>
            <a:ext cx="5285509" cy="4852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Anxieties</a:t>
            </a:r>
          </a:p>
          <a:p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Fate, Mortality</a:t>
            </a:r>
            <a:r>
              <a:rPr lang="en-US" altLang="zh-CN" sz="36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endParaRPr lang="en-US" altLang="zh-CN" sz="3200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Catastrophic Weather</a:t>
            </a:r>
            <a:r>
              <a:rPr lang="en-US" altLang="zh-CN" sz="32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[2]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Failing World</a:t>
            </a:r>
            <a:r>
              <a:rPr lang="en-US" altLang="zh-CN" sz="32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[2]</a:t>
            </a:r>
          </a:p>
          <a:p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Selfishness and Lying</a:t>
            </a:r>
            <a:r>
              <a:rPr lang="en-US" altLang="zh-CN" sz="32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[2]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Betrayal of Trust</a:t>
            </a:r>
            <a:r>
              <a:rPr lang="en-US" altLang="zh-CN" sz="32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[2]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495477-22AA-5A3D-AEC7-5E400BC52B1B}"/>
              </a:ext>
            </a:extLst>
          </p:cNvPr>
          <p:cNvSpPr txBox="1"/>
          <p:nvPr/>
        </p:nvSpPr>
        <p:spPr>
          <a:xfrm>
            <a:off x="311727" y="2327564"/>
            <a:ext cx="58396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Hopes</a:t>
            </a:r>
          </a:p>
          <a:p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Hyper-Fast Interstellar Travel</a:t>
            </a:r>
            <a:r>
              <a:rPr lang="en-US" altLang="zh-CN" sz="36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US" altLang="zh-CN" sz="3200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Advancement</a:t>
            </a:r>
          </a:p>
          <a:p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Humankind Self-Rescue</a:t>
            </a:r>
            <a:r>
              <a:rPr lang="en-US" altLang="zh-CN" sz="32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[3]</a:t>
            </a:r>
          </a:p>
          <a:p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Enduring Love, Striving, Bravery</a:t>
            </a:r>
          </a:p>
          <a:p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5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7947B0-F60F-8754-A119-32C9174B646D}"/>
              </a:ext>
            </a:extLst>
          </p:cNvPr>
          <p:cNvSpPr txBox="1"/>
          <p:nvPr/>
        </p:nvSpPr>
        <p:spPr>
          <a:xfrm>
            <a:off x="96982" y="197724"/>
            <a:ext cx="82780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Reception, Themes </a:t>
            </a:r>
          </a:p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Critique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8A29C3-9981-B94C-5B34-BD24E066135D}"/>
              </a:ext>
            </a:extLst>
          </p:cNvPr>
          <p:cNvSpPr txBox="1"/>
          <p:nvPr/>
        </p:nvSpPr>
        <p:spPr>
          <a:xfrm>
            <a:off x="5098473" y="2535384"/>
            <a:ext cx="28332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Criticism</a:t>
            </a:r>
          </a:p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On</a:t>
            </a:r>
          </a:p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Reality</a:t>
            </a:r>
            <a:endParaRPr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312B82-88B8-91C7-150E-D5333467A389}"/>
              </a:ext>
            </a:extLst>
          </p:cNvPr>
          <p:cNvSpPr txBox="1"/>
          <p:nvPr/>
        </p:nvSpPr>
        <p:spPr>
          <a:xfrm>
            <a:off x="96982" y="2230582"/>
            <a:ext cx="54933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Compliment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Love </a:t>
            </a:r>
            <a:r>
              <a:rPr lang="en-US" altLang="zh-C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Trascends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and Space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Sacrifice, Bravery For Survival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Accuracy</a:t>
            </a:r>
            <a:r>
              <a:rPr lang="en-US" altLang="zh-CN" sz="28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Aesthetically Blockbuster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9471E3-B71B-7CEC-A62D-C0EE6D421261}"/>
              </a:ext>
            </a:extLst>
          </p:cNvPr>
          <p:cNvSpPr txBox="1"/>
          <p:nvPr/>
        </p:nvSpPr>
        <p:spPr>
          <a:xfrm>
            <a:off x="7349834" y="1587554"/>
            <a:ext cx="549332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Reflection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Climate Change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Selfishness &amp; Egoism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Utopian Ending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Simplified Complexity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TARS, CASE vs HAL</a:t>
            </a: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Heroism OR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Efforts</a:t>
            </a:r>
          </a:p>
        </p:txBody>
      </p:sp>
    </p:spTree>
    <p:extLst>
      <p:ext uri="{BB962C8B-B14F-4D97-AF65-F5344CB8AC3E}">
        <p14:creationId xmlns:p14="http://schemas.microsoft.com/office/powerpoint/2010/main" val="87324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9CDF85-8A24-ACFF-A12B-E67E7BCD55A5}"/>
              </a:ext>
            </a:extLst>
          </p:cNvPr>
          <p:cNvSpPr txBox="1"/>
          <p:nvPr/>
        </p:nvSpPr>
        <p:spPr>
          <a:xfrm>
            <a:off x="96982" y="197724"/>
            <a:ext cx="82780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Reception, Themes </a:t>
            </a:r>
          </a:p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Critique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B99626-A64F-297C-F860-F210D972E60B}"/>
              </a:ext>
            </a:extLst>
          </p:cNvPr>
          <p:cNvSpPr txBox="1"/>
          <p:nvPr/>
        </p:nvSpPr>
        <p:spPr>
          <a:xfrm>
            <a:off x="5170097" y="2668438"/>
            <a:ext cx="20760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What’s</a:t>
            </a:r>
          </a:p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For</a:t>
            </a:r>
          </a:p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Future?</a:t>
            </a:r>
            <a:endParaRPr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DE72B7-3D9B-7073-73C8-4C3F232ADC54}"/>
              </a:ext>
            </a:extLst>
          </p:cNvPr>
          <p:cNvSpPr txBox="1"/>
          <p:nvPr/>
        </p:nvSpPr>
        <p:spPr>
          <a:xfrm>
            <a:off x="733244" y="2958861"/>
            <a:ext cx="3315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(happening)</a:t>
            </a:r>
            <a:endParaRPr lang="zh-CN" alt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E43480-8936-FC6F-334C-CFB72F68EF37}"/>
              </a:ext>
            </a:extLst>
          </p:cNvPr>
          <p:cNvSpPr txBox="1"/>
          <p:nvPr/>
        </p:nvSpPr>
        <p:spPr>
          <a:xfrm>
            <a:off x="7487730" y="867478"/>
            <a:ext cx="33154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AI Companions for Space Missions</a:t>
            </a:r>
            <a:endParaRPr lang="zh-CN" alt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66301E-24AE-5FF3-5881-07C5BA67B694}"/>
              </a:ext>
            </a:extLst>
          </p:cNvPr>
          <p:cNvSpPr txBox="1"/>
          <p:nvPr/>
        </p:nvSpPr>
        <p:spPr>
          <a:xfrm>
            <a:off x="733244" y="5576464"/>
            <a:ext cx="39710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Catastrophic Weather</a:t>
            </a:r>
            <a:endParaRPr lang="zh-CN" alt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E5E713-9E46-5F73-A568-B30F5AD3A025}"/>
              </a:ext>
            </a:extLst>
          </p:cNvPr>
          <p:cNvSpPr txBox="1"/>
          <p:nvPr/>
        </p:nvSpPr>
        <p:spPr>
          <a:xfrm>
            <a:off x="733244" y="4498495"/>
            <a:ext cx="33154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Collapsing World</a:t>
            </a:r>
            <a:endParaRPr lang="zh-CN" alt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3FA74C-164D-248C-7E40-B8429BE8C5C1}"/>
              </a:ext>
            </a:extLst>
          </p:cNvPr>
          <p:cNvSpPr txBox="1"/>
          <p:nvPr/>
        </p:nvSpPr>
        <p:spPr>
          <a:xfrm>
            <a:off x="7487730" y="2921168"/>
            <a:ext cx="44914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space exploration and Mars colonization plans </a:t>
            </a:r>
            <a:endParaRPr lang="zh-CN" alt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F41B7A-E61F-060D-8DD6-B876EFACB24B}"/>
              </a:ext>
            </a:extLst>
          </p:cNvPr>
          <p:cNvSpPr txBox="1"/>
          <p:nvPr/>
        </p:nvSpPr>
        <p:spPr>
          <a:xfrm>
            <a:off x="7487730" y="4607430"/>
            <a:ext cx="4881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 Wave Detection and Black Hole Imaging</a:t>
            </a:r>
            <a:endParaRPr lang="zh-CN" alt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91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4091EB-6F70-A6ED-A5A1-AB4C5D337B7E}"/>
              </a:ext>
            </a:extLst>
          </p:cNvPr>
          <p:cNvSpPr txBox="1"/>
          <p:nvPr/>
        </p:nvSpPr>
        <p:spPr>
          <a:xfrm>
            <a:off x="258775" y="954022"/>
            <a:ext cx="37728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Conclusion       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13ABC7-4231-683B-817F-6759A74EAE02}"/>
              </a:ext>
            </a:extLst>
          </p:cNvPr>
          <p:cNvSpPr txBox="1"/>
          <p:nvPr/>
        </p:nvSpPr>
        <p:spPr>
          <a:xfrm>
            <a:off x="4793411" y="3522395"/>
            <a:ext cx="42729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depth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2BB278-4FCA-C2A9-1B09-8FE1021D679B}"/>
              </a:ext>
            </a:extLst>
          </p:cNvPr>
          <p:cNvSpPr txBox="1"/>
          <p:nvPr/>
        </p:nvSpPr>
        <p:spPr>
          <a:xfrm>
            <a:off x="6147759" y="3040811"/>
            <a:ext cx="4272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Ambition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714704-38B5-B592-5EDA-2A2BC002CA1D}"/>
              </a:ext>
            </a:extLst>
          </p:cNvPr>
          <p:cNvSpPr txBox="1"/>
          <p:nvPr/>
        </p:nvSpPr>
        <p:spPr>
          <a:xfrm>
            <a:off x="3496572" y="4127089"/>
            <a:ext cx="6636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Incredible Cinematography &amp; Music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E09491-6F0B-6DD4-18A0-50C87D098971}"/>
              </a:ext>
            </a:extLst>
          </p:cNvPr>
          <p:cNvSpPr txBox="1"/>
          <p:nvPr/>
        </p:nvSpPr>
        <p:spPr>
          <a:xfrm>
            <a:off x="9733051" y="2694507"/>
            <a:ext cx="738664" cy="2534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Movie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ABF93F-D5D4-A72A-0EB7-AC585A3F23AD}"/>
              </a:ext>
            </a:extLst>
          </p:cNvPr>
          <p:cNvSpPr txBox="1"/>
          <p:nvPr/>
        </p:nvSpPr>
        <p:spPr>
          <a:xfrm>
            <a:off x="3933645" y="4715958"/>
            <a:ext cx="556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Intellectually and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Emotionally Brilliance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81D30E-F329-09DE-28F4-E71ADD93F54C}"/>
              </a:ext>
            </a:extLst>
          </p:cNvPr>
          <p:cNvSpPr txBox="1"/>
          <p:nvPr/>
        </p:nvSpPr>
        <p:spPr>
          <a:xfrm>
            <a:off x="5444705" y="2559749"/>
            <a:ext cx="4272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Ground-Breaking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BC3045-DD6B-615F-F8DA-0A315B5459FE}"/>
              </a:ext>
            </a:extLst>
          </p:cNvPr>
          <p:cNvSpPr txBox="1"/>
          <p:nvPr/>
        </p:nvSpPr>
        <p:spPr>
          <a:xfrm>
            <a:off x="4135160" y="2314360"/>
            <a:ext cx="1046440" cy="2534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Visualization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DDB7FA-073D-119B-361F-60F1F9A72B78}"/>
              </a:ext>
            </a:extLst>
          </p:cNvPr>
          <p:cNvSpPr txBox="1"/>
          <p:nvPr/>
        </p:nvSpPr>
        <p:spPr>
          <a:xfrm>
            <a:off x="1040919" y="6199503"/>
            <a:ext cx="1158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“Do not go gentle into that good night. Rage, rage against the dying of the light.”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A5E20D-DC59-5CEC-8234-D6669120AAFD}"/>
              </a:ext>
            </a:extLst>
          </p:cNvPr>
          <p:cNvSpPr txBox="1"/>
          <p:nvPr/>
        </p:nvSpPr>
        <p:spPr>
          <a:xfrm>
            <a:off x="5820188" y="2175162"/>
            <a:ext cx="5566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Recommended Science Fiction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6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F377F4-796B-649D-2DF0-543D6C72816E}"/>
              </a:ext>
            </a:extLst>
          </p:cNvPr>
          <p:cNvSpPr txBox="1"/>
          <p:nvPr/>
        </p:nvSpPr>
        <p:spPr>
          <a:xfrm>
            <a:off x="258775" y="321412"/>
            <a:ext cx="37728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Conclusion       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C745DB-5072-580C-E1D5-5B226DFF00E0}"/>
              </a:ext>
            </a:extLst>
          </p:cNvPr>
          <p:cNvSpPr txBox="1"/>
          <p:nvPr/>
        </p:nvSpPr>
        <p:spPr>
          <a:xfrm>
            <a:off x="3629105" y="4232699"/>
            <a:ext cx="48422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vast, uncaring universe,</a:t>
            </a:r>
            <a:b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love and connection</a:t>
            </a:r>
            <a:b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be the only forces</a:t>
            </a:r>
            <a:b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give life meaning.</a:t>
            </a:r>
          </a:p>
        </p:txBody>
      </p:sp>
    </p:spTree>
    <p:extLst>
      <p:ext uri="{BB962C8B-B14F-4D97-AF65-F5344CB8AC3E}">
        <p14:creationId xmlns:p14="http://schemas.microsoft.com/office/powerpoint/2010/main" val="76807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3F42E04-DEA2-49C6-669D-1A200988A329}"/>
              </a:ext>
            </a:extLst>
          </p:cNvPr>
          <p:cNvSpPr txBox="1"/>
          <p:nvPr/>
        </p:nvSpPr>
        <p:spPr>
          <a:xfrm>
            <a:off x="3399697" y="1527748"/>
            <a:ext cx="63950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Listening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1DD932-EA3F-C354-8A22-8410CDC7695A}"/>
              </a:ext>
            </a:extLst>
          </p:cNvPr>
          <p:cNvSpPr txBox="1"/>
          <p:nvPr/>
        </p:nvSpPr>
        <p:spPr>
          <a:xfrm>
            <a:off x="3123415" y="4863855"/>
            <a:ext cx="5945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Mid-term Presentation | Presented by: Nuo, Xu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92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65945-2996-A3D1-01A5-CE76B6FB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DF6B873-29A0-CC15-9537-C29FC31803C1}"/>
              </a:ext>
            </a:extLst>
          </p:cNvPr>
          <p:cNvSpPr txBox="1"/>
          <p:nvPr/>
        </p:nvSpPr>
        <p:spPr>
          <a:xfrm>
            <a:off x="1041263" y="713066"/>
            <a:ext cx="1010947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Citations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Kokosková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 (2018). The emotional appeal of science fiction cinema in awe of Interstellar.                                  *Acta Universitatis 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Lodziensis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Folia 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Litteraria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Artium*, 44, 55–68.            https://doi.org/10.18778/0860-0273.44.05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Dolan, R. (2021). Public anxieties in WALL-E, Interstellar, Captain Marvel, and Don't Look Up. *Science Fiction Film and Television*, 14(3), 365–387. 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https://doi.org/10.3828/sfftv.2021.22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Ramos, J. M. (2015). The wrath of Gaia vs. the second coming of science: Beyond 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Interstellar’s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dualistic narrative. *Journal of Futures Studies*, *20*(2), 133–140. https://doi.org/10.6531/JFS.2015.20(2).E133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Thorne, K. S. (2014). *The science of interstellar*. W. W. Norton &amp; Company.</a:t>
            </a:r>
          </a:p>
          <a:p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altLang="zh-CN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  <a:p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Image source. (n.d.). *Interstellar wallpaper*. Pinterest. https://www.pinterest.com/ideas/interstellar-wallpapers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126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639</Words>
  <Application>Microsoft Office PowerPoint</Application>
  <PresentationFormat>宽屏</PresentationFormat>
  <Paragraphs>112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Times New Roman</vt:lpstr>
      <vt:lpstr>Office 主题​​</vt:lpstr>
      <vt:lpstr>“Mankind was born on Earth.    It was never meant to die here.”                                             — Cooper, Interstellar </vt:lpstr>
      <vt:lpstr>INTERSTELLAR (2014)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诺 许</dc:creator>
  <cp:lastModifiedBy>诺 许</cp:lastModifiedBy>
  <cp:revision>105</cp:revision>
  <dcterms:created xsi:type="dcterms:W3CDTF">2025-09-06T16:03:06Z</dcterms:created>
  <dcterms:modified xsi:type="dcterms:W3CDTF">2025-09-25T05:12:10Z</dcterms:modified>
</cp:coreProperties>
</file>